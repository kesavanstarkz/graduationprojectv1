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Helvetica World Bold" panose="020B0604020202020204" charset="-128"/>
      <p:regular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Cambria Bold" panose="02040803050406030204" pitchFamily="18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FA80C-C542-41B8-B9B7-55CDA285B68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3A6CB-24BF-49FA-87CE-502A8A0F4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3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3A6CB-24BF-49FA-87CE-502A8A0F4F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62877" y="4131271"/>
            <a:ext cx="15392399" cy="92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7200" b="1" dirty="0">
                <a:solidFill>
                  <a:schemeClr val="accent2"/>
                </a:solidFill>
              </a:rPr>
              <a:t>Clinical Data Quality Check Workflow</a:t>
            </a:r>
            <a:endParaRPr lang="en-US" sz="7200" b="1" dirty="0">
              <a:solidFill>
                <a:schemeClr val="accent2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511394" y="5384324"/>
            <a:ext cx="12895364" cy="40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Detect and flag inconsistencies in clinical datasets before downstream analysis.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2110" y="6159599"/>
            <a:ext cx="4313932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Presented By,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Kesavan 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88276" y="2049719"/>
            <a:ext cx="16111447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The Complexity of Clinical Data Quality Check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4917" y="3422808"/>
            <a:ext cx="16266500" cy="479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High Volume Data Errors: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Manual entry leads to frequent typos, outliers, and missing values. Simple validation rules often miss context-dependent anomalies in large clinical datasets.</a:t>
            </a:r>
            <a:endParaRPr lang="en-US" sz="2799" dirty="0">
              <a:solidFill>
                <a:srgbClr val="000000"/>
              </a:solidFill>
              <a:latin typeface="Cambria"/>
              <a:ea typeface="Cambria"/>
              <a:sym typeface="Cambria"/>
            </a:endParaRP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Privacy &amp; Compliance Risks: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 Sensitive Patient Health Information (PHI/PII) is strictly regulated and cannot be sent to public cloud AIs for analysis due to data leakage risks.</a:t>
            </a:r>
            <a:endParaRPr lang="en-US" sz="2799" dirty="0">
              <a:solidFill>
                <a:srgbClr val="000000"/>
              </a:solidFill>
              <a:latin typeface="Cambria"/>
              <a:ea typeface="Cambria"/>
              <a:sym typeface="Cambria"/>
            </a:endParaRP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Expert Bottleneck: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Validating medical data requires clinical expertise. Relying on physicians to clean data is expensive, scarce, and significantly slows down research timelines.</a:t>
            </a:r>
            <a:endParaRPr lang="en-US" sz="2799" dirty="0">
              <a:solidFill>
                <a:srgbClr val="000000"/>
              </a:solidFill>
              <a:latin typeface="Cambria"/>
              <a:ea typeface="Cambria"/>
              <a:sym typeface="Cambria"/>
            </a:endParaRP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Lack of Contextual Insights: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Standard validation tools merely flag errors (e.g., "Error 404") but fail to explain why a value is clinically suspicious, forcing manual investigation.</a:t>
            </a:r>
            <a:endParaRPr lang="en-US" sz="2799" dirty="0">
              <a:solidFill>
                <a:srgbClr val="000000"/>
              </a:solidFill>
              <a:latin typeface="Cambria"/>
              <a:ea typeface="Cambria"/>
              <a:sym typeface="Cambria"/>
            </a:endParaRPr>
          </a:p>
          <a:p>
            <a:pPr algn="just">
              <a:lnSpc>
                <a:spcPts val="4199"/>
              </a:lnSpc>
            </a:pPr>
            <a:endParaRPr lang="en-US" sz="2799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267018" y="1808370"/>
            <a:ext cx="9753964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Statement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4917" y="3122456"/>
            <a:ext cx="16266500" cy="479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Clinical datasets frequently suffer from a wide range of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quality issues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including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missing values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inconsistencies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incorrect formats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statistical outliers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These issues can seriously compromise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patient safety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reduce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reliability of clinical studies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impact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regulatory compliance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Most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traditional data validation tools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are limited to simply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flagging anomalies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based on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predefined rules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without considering the underlying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clinical context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real-world relevance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of the data. As a result,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stewards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clinical analysts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are forced to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manually review large volumes of flagged records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which is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time-consuming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error-prone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inconsistent across teams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This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manual burden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slows down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cleaning process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delays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downstream analysis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ultimately affects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speed and accuracy of clinical decision-making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research outcomes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799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791200" y="1963461"/>
            <a:ext cx="618033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Strategic Solution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16989" y="3246789"/>
            <a:ext cx="14873106" cy="518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 Clinical Data Quality Intelligence Platform automates data validation and provides expert-level clinical insights. It combines rigorous error checking with an intelligent AI "Virtual Data Scientist" to not just detect issues but explain their clinical impact and recommend fixes.</a:t>
            </a:r>
          </a:p>
          <a:p>
            <a:pPr algn="just">
              <a:lnSpc>
                <a:spcPts val="3749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Key Features:</a:t>
            </a:r>
          </a:p>
          <a:p>
            <a:pPr marL="342900" indent="-342900" algn="just">
              <a:lnSpc>
                <a:spcPts val="3749"/>
              </a:lnSpc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Automated Validation: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 Instantly detects schema violations, missing data, and outliers.</a:t>
            </a:r>
          </a:p>
          <a:p>
            <a:pPr marL="342900" indent="-342900" algn="just">
              <a:lnSpc>
                <a:spcPts val="3749"/>
              </a:lnSpc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Smart Caching: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 Utilizes a Vector Database 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ChromaDB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 to memorize and reuse explanations for recurring issues, ensuring speed and consistency.</a:t>
            </a:r>
          </a:p>
          <a:p>
            <a:pPr marL="342900" indent="-342900" algn="just">
              <a:lnSpc>
                <a:spcPts val="3749"/>
              </a:lnSpc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AI-Powered Analysis: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 Uses a local AI model (DeepSeek) to provide detailed observations, clinical impacts, and remediation steps for every error.</a:t>
            </a:r>
          </a:p>
          <a:p>
            <a:pPr marL="342900" indent="-342900" algn="just">
              <a:lnSpc>
                <a:spcPts val="3749"/>
              </a:lnSpc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Actionable Reporting: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 Delivers clear, prioritized insights via an interactive dashboard and PDF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816981" y="1697235"/>
            <a:ext cx="14873105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Why Existing Search Methods Fail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16989" y="3246789"/>
            <a:ext cx="14873106" cy="425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Rigidity: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Keyword-based searches fail to handle fuzzy or inconsistent clinical terminology (e.g., “Temp” vs “Body Temperature”).</a:t>
            </a: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Isolation: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Data values are evaluated without clinical context or patient history, leading to misleading alerts.</a:t>
            </a: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Maintenance Overhead: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Hardcoded validation rules do not scale well across diverse studies, protocols, and research datasets.</a:t>
            </a:r>
          </a:p>
          <a:p>
            <a:pPr marL="604518" lvl="1" indent="-302259" algn="just">
              <a:lnSpc>
                <a:spcPts val="4199"/>
              </a:lnSpc>
              <a:buFont typeface="Arial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Decision Lag: </a:t>
            </a:r>
            <a:r>
              <a:rPr lang="en-US" sz="2799" dirty="0">
                <a:solidFill>
                  <a:srgbClr val="000000"/>
                </a:solidFill>
                <a:latin typeface="Cambria"/>
                <a:ea typeface="Cambria"/>
                <a:sym typeface="Cambria Bold"/>
              </a:rPr>
              <a:t>Lack of actionable intelligence delays remediation, slowing down clinical analysis and decision-making.</a:t>
            </a:r>
            <a:endParaRPr lang="en-US" sz="2799" dirty="0">
              <a:solidFill>
                <a:srgbClr val="000000"/>
              </a:solidFill>
              <a:latin typeface="Cambria"/>
              <a:ea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244833" y="1697235"/>
            <a:ext cx="1092537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High-Level System Architecture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3E7E08E-28BE-5E7B-7683-45485C66EE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32"/>
          <a:stretch>
            <a:fillRect/>
          </a:stretch>
        </p:blipFill>
        <p:spPr>
          <a:xfrm>
            <a:off x="0" y="2810169"/>
            <a:ext cx="18288000" cy="5707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538970" y="1623680"/>
            <a:ext cx="6707570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Flow Diagram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7992D9-73BA-8E6B-0287-99B2205105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894"/>
          <a:stretch>
            <a:fillRect/>
          </a:stretch>
        </p:blipFill>
        <p:spPr>
          <a:xfrm>
            <a:off x="3295801" y="2552700"/>
            <a:ext cx="10746438" cy="69569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09800" y="1887053"/>
            <a:ext cx="14173200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5392" lvl="1" indent="-647696" algn="ctr">
              <a:lnSpc>
                <a:spcPts val="7199"/>
              </a:lnSpc>
              <a:spcBef>
                <a:spcPct val="0"/>
              </a:spcBef>
              <a:buAutoNum type="arabicPeriod"/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The Document Ingestion Pipeline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1617" y="3350809"/>
            <a:ext cx="15499823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Structured Text Extraction: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Supports ingestion from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CSV, PDF, and plain text files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automatically parsing structured and semi-structured clinical data.</a:t>
            </a: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Vectorization Pipeline: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Applies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efficient chunking strategies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and generates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high-quality embeddings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to preserve semantic meaning across documents.</a:t>
            </a: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Vector Storage: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Integrates with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ChromaDB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to enable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persistent, fast, and scalable vector indexing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for semantic search and retrieval.</a:t>
            </a: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Persistent Knowledge Mapping: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Maintains a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traceable link between source documents and vector representations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ensuring explainability and auditability.</a:t>
            </a: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Batch Processing &amp; Scalability: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Supports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bulk ingestion of multiple documents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enabling scalable processing for large-scale clinical and research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70280" y="1549774"/>
            <a:ext cx="449480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Semantic Chunking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51674" y="2094311"/>
            <a:ext cx="15499823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Large clinical documents are split into </a:t>
            </a:r>
            <a:r>
              <a:rPr lang="en-US" sz="2800" b="1" dirty="0"/>
              <a:t>meaningful concept-based chunks</a:t>
            </a:r>
            <a:r>
              <a:rPr lang="en-US" sz="2800" dirty="0"/>
              <a:t> rather than fixed sizes. The system first performs </a:t>
            </a:r>
            <a:r>
              <a:rPr lang="en-US" sz="2800" b="1" dirty="0"/>
              <a:t>sentence-level parsing</a:t>
            </a:r>
            <a:r>
              <a:rPr lang="en-US" sz="2800" dirty="0"/>
              <a:t>, then groups sentences based on </a:t>
            </a:r>
            <a:r>
              <a:rPr lang="en-US" sz="2800" b="1" dirty="0"/>
              <a:t>semantic continuity</a:t>
            </a:r>
            <a:r>
              <a:rPr lang="en-US" sz="2800" dirty="0"/>
              <a:t>, using </a:t>
            </a:r>
            <a:r>
              <a:rPr lang="en-US" sz="2800" b="1" dirty="0"/>
              <a:t>embedding-distance breakpoints</a:t>
            </a:r>
            <a:r>
              <a:rPr lang="en-US" sz="2800" dirty="0"/>
              <a:t> to detect topic shifts. This ensures related clinical information (e.g., vitals + measurement context) remains intact, giving the LLM a </a:t>
            </a:r>
            <a:r>
              <a:rPr lang="en-US" sz="2800" b="1" dirty="0"/>
              <a:t>coherent and complete context</a:t>
            </a:r>
            <a:r>
              <a:rPr lang="en-US" sz="2800" dirty="0"/>
              <a:t> during retrieval.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77528" y="4356119"/>
            <a:ext cx="449480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Vector Similarity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7504" y="5067003"/>
            <a:ext cx="15499823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chunk is converted into a </a:t>
            </a:r>
            <a:r>
              <a:rPr lang="en-US" sz="2800" b="1" dirty="0"/>
              <a:t>384-dimensional embedding</a:t>
            </a:r>
            <a:r>
              <a:rPr lang="en-US" sz="2800" dirty="0"/>
              <a:t> using </a:t>
            </a:r>
            <a:r>
              <a:rPr lang="en-US" sz="2800" i="1" dirty="0"/>
              <a:t>all-MiniLM-L6-v2</a:t>
            </a:r>
            <a:r>
              <a:rPr lang="en-US" sz="2800" dirty="0"/>
              <a:t>. During queries, the system applies </a:t>
            </a:r>
            <a:r>
              <a:rPr lang="en-US" sz="2800" b="1" dirty="0"/>
              <a:t>cosine similarity</a:t>
            </a:r>
            <a:r>
              <a:rPr lang="en-US" sz="2800" dirty="0"/>
              <a:t> to compare the query vector with stored vectors, retrieving </a:t>
            </a:r>
            <a:r>
              <a:rPr lang="en-US" sz="2800" b="1" dirty="0"/>
              <a:t>semantically related content</a:t>
            </a:r>
            <a:r>
              <a:rPr lang="en-US" sz="2800" dirty="0"/>
              <a:t> even when keywords differ (e.g., </a:t>
            </a:r>
            <a:r>
              <a:rPr lang="en-US" sz="2800" i="1" dirty="0"/>
              <a:t>“incorrect age”</a:t>
            </a:r>
            <a:r>
              <a:rPr lang="en-US" sz="2800" dirty="0"/>
              <a:t> ↔ </a:t>
            </a:r>
            <a:r>
              <a:rPr lang="en-US" sz="2800" i="1" dirty="0"/>
              <a:t>“age out of protocol range”</a:t>
            </a:r>
            <a:r>
              <a:rPr lang="en-US" sz="2800" dirty="0"/>
              <a:t>).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41901891-DC65-7082-C9FE-FFF4EE80B998}"/>
              </a:ext>
            </a:extLst>
          </p:cNvPr>
          <p:cNvSpPr txBox="1"/>
          <p:nvPr/>
        </p:nvSpPr>
        <p:spPr>
          <a:xfrm>
            <a:off x="1077528" y="6973655"/>
            <a:ext cx="623767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Vector Storage &amp; Indexing: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7A604B1F-7080-D3D6-63C3-E8DCBFCF3A69}"/>
              </a:ext>
            </a:extLst>
          </p:cNvPr>
          <p:cNvSpPr txBox="1"/>
          <p:nvPr/>
        </p:nvSpPr>
        <p:spPr>
          <a:xfrm>
            <a:off x="1577504" y="7684539"/>
            <a:ext cx="15499823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Embeddings are stored persistently in </a:t>
            </a:r>
            <a:r>
              <a:rPr lang="en-US" sz="2800" b="1" dirty="0" err="1"/>
              <a:t>ChromaDB</a:t>
            </a:r>
            <a:r>
              <a:rPr lang="en-US" sz="2800" dirty="0"/>
              <a:t>, organized into </a:t>
            </a:r>
            <a:r>
              <a:rPr lang="en-US" sz="2800" b="1" dirty="0"/>
              <a:t>domain-specific collections</a:t>
            </a:r>
            <a:r>
              <a:rPr lang="en-US" sz="2800" dirty="0"/>
              <a:t>. The database uses </a:t>
            </a:r>
            <a:r>
              <a:rPr lang="en-US" sz="2800" b="1" dirty="0"/>
              <a:t>HNSW indexing</a:t>
            </a:r>
            <a:r>
              <a:rPr lang="en-US" sz="2800" dirty="0"/>
              <a:t> for fast similarity search and maintains </a:t>
            </a:r>
            <a:r>
              <a:rPr lang="en-US" sz="2800" b="1" dirty="0"/>
              <a:t>rich metadata mapping</a:t>
            </a:r>
            <a:r>
              <a:rPr lang="en-US" sz="2800" dirty="0"/>
              <a:t> (UUID, source file, timestamp, patient context), ensuring every retrieved insight is </a:t>
            </a:r>
            <a:r>
              <a:rPr lang="en-US" sz="2800" b="1" dirty="0"/>
              <a:t>traceable and auditable</a:t>
            </a:r>
            <a:r>
              <a:rPr lang="en-US" sz="2800" dirty="0"/>
              <a:t>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81617" y="3350809"/>
            <a:ext cx="15499823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On-Premise Generation: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Uses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Ollama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to run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DeepSeek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model locally, ensuring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zero data leakage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and full control over sensitive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Grounded Prompting: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The model is explicitly constrained to respond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only using retrieved SOP and knowledge-base context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preventing hallucinations.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Privacy-Native Design: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Well-suited for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regulated environments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(healthcare, clinical research, compliance) where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cloud-based AI is restricted or prohibited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Natural Language Synthesis: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Transforms raw retrieved chunks into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clear, structured, and actionable procedural guidance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for end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Resource-Efficient Inference: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Leverages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lightweight models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(e.g., DeepSeek-R1 / Mistral) to deliver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high performance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without requiring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expensive cloud compute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7612" y="2279625"/>
            <a:ext cx="881912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 Local Inference with Ollama &amp; Mistral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781299" y="2002095"/>
            <a:ext cx="12725400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6" lvl="1"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End-to-End Runtime Workflow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4088" y="3073936"/>
            <a:ext cx="15499823" cy="560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Request Trigger (</a:t>
            </a:r>
            <a:r>
              <a:rPr lang="en-US" sz="2799" b="1" dirty="0" err="1">
                <a:solidFill>
                  <a:srgbClr val="2C627B"/>
                </a:solidFill>
                <a:latin typeface="Cambria Bold"/>
              </a:rPr>
              <a:t>FastAPI</a:t>
            </a: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):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User clicks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Validate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→ frontend sends a POST request. The backend streams progress updates in real time, enabling responsive UI feedback during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Data Preparation &amp; Isolation (Database Layer):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dynamic, dataset-specific table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is created to ensure isolation across studies and prevent data overlap.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Rule-Based Validation Pass (Validator Service):</a:t>
            </a:r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Clinical rules and statistical checks detect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logic errors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protocol deviations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biologically implausible outliers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(IQR-based).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AI Intelligence Pass (LLM + Vector DB)</a:t>
            </a:r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Each issue is semantically matched against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ChromaDB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If a similar case exists → reuse explanation. If new →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DeepSeek-R1 (via Ollama)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generates a clinical explanation. New insights are embedded and stored, enabling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continuous learning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Persistence &amp; Analytics (SQL Layer):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All findings and AI explanations are stored,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global integrity scores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are recalculated for dashboard visualization.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Reporting &amp; Output (Report Generator):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Validated data and AI insights are compiled into a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professional audit report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with summaries, severity insights, and remediation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2698" y="1478861"/>
            <a:ext cx="15758732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Clinical Data Quality Check Workflow UI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6D03F11-69A8-F0DF-0DF1-541BD349F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810" y="2463534"/>
            <a:ext cx="10606380" cy="6871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582743" y="1523252"/>
            <a:ext cx="10784892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Quality Analytics Dashboard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642A70D-1149-ABB2-0A3B-DDCDFCE60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903" y="2496403"/>
            <a:ext cx="10162194" cy="70218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60484" y="1694105"/>
            <a:ext cx="16069057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Monitoring via </a:t>
            </a:r>
            <a:r>
              <a:rPr lang="en-US" sz="5099" b="1" dirty="0" err="1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Langsmith</a:t>
            </a:r>
            <a:endParaRPr lang="en-US" sz="5099" b="1" dirty="0">
              <a:solidFill>
                <a:srgbClr val="CA4851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3428" y="2726380"/>
            <a:ext cx="16313325" cy="560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LangSmith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serves as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observability and monitoring layer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for all AI-driven operations, providing full visibility into how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DeepSeek-R1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model reasons over clinical data.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Trace Definition: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trace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is a complete log of a single AI interaction, capturing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input clinical data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prompt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model’s reasoning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final explanation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along with metadata such as model version and tags.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Hierarchical Execution (Runs):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Traces are structured into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parent and child runs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representing high-level tasks (dataset analysis) and sub-steps (semantic search, LLM completion). This enables precise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root-cause analysis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when validation issues occur.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Key Metrics Monitored: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system tracks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latency (p50/p95/p99)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error rates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token usage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helping identify performance bottlenecks and AI reliability issues.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Operational Insight: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Trace statistics feed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Intelligence Dashboard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showing audit volume, success vs. failure rates, and step-by-step reasoning for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transparent and explainable clinical decisions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904528" y="1970851"/>
            <a:ext cx="982910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 err="1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Langsmith</a:t>
            </a:r>
            <a:r>
              <a:rPr lang="en-US" sz="50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 Traces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8B2B6A-3B2E-5DBC-8BFD-94EDBBC3B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982" y="3644204"/>
            <a:ext cx="8828239" cy="49946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0FF4F97-AEB9-D50F-811D-E1C5EEFAF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82" y="3644204"/>
            <a:ext cx="7494895" cy="49946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743200" y="1748942"/>
            <a:ext cx="11510880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Results &amp; Operational Impact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72384" y="3154687"/>
            <a:ext cx="13478852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Performance: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Low-latency AI enabled by asynchronous processing and semantic caching, designed to scale efficiently for large clinical datasets.</a:t>
            </a:r>
          </a:p>
          <a:p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Accuracy: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End-to-end validation of 100% of records using semantic similarity to ensure consistent and reliable issue detection.</a:t>
            </a:r>
          </a:p>
          <a:p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Support: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Explainable AI powered by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LangSmith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traces, with automatically generated clinical explanations and remediation guidance.</a:t>
            </a:r>
          </a:p>
          <a:p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Achieves up to a 70% reduction in audit timelines by minimizing manual review and human-introduced errors.</a:t>
            </a:r>
          </a:p>
          <a:p>
            <a:r>
              <a:rPr lang="en-US" sz="2800" b="1" dirty="0">
                <a:solidFill>
                  <a:srgbClr val="2C627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Accessibility: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Real-time integrity dashboards combined with a shared clinical knowledge base for organization-wide visibility.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553200" y="2152022"/>
            <a:ext cx="4497653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1763" y="3375755"/>
            <a:ext cx="16266500" cy="560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Clinical Data Quality Intelligence Platform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marks a shift from manual, error-prone validation to an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automated, AI-driven audit ecosystem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addressing critical challenges in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research integrity, scalability, and trust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Key Outcomes: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Operational Excellence: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Reduced manual audit effort by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70%+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allowing teams to focus on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patient safety and scientific outcomes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Intelligent Memory: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Built a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self-evolving semantic knowledge base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enabling every audit to benefit from historical clinical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2C627B"/>
                </a:solidFill>
                <a:latin typeface="Cambria Bold"/>
              </a:rPr>
              <a:t>Unified AI Pipeline: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Seamlessly integrates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DeepSeek-R1 (reasoning)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ChromaDB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(semantic retrieval)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LangSmith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(observability)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into a transparent, end-to-end system.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Impact: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Faster audits, consistent intelligence, and compliance-ready clinical decision support.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49636" y="9531144"/>
            <a:ext cx="9788738" cy="755856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71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26284" y="-44244"/>
            <a:ext cx="1463812" cy="1463812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330990" y="2193920"/>
            <a:ext cx="7626020" cy="867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Future Directions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0750" y="3580428"/>
            <a:ext cx="16266500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Adaptive Intelligence: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/>
              <a:t>Continuously learns from evolving clinical protocols and regulatory updates to remain compliant and context-aware.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Multi-Modal Validation: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/>
              <a:t>Expands beyond tabular data to include medical images, lab reports, and device-generated clinical signals.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Federated Knowledge: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/>
              <a:t>Enables secure cross-study and cross-institution intelligence exchange while preserving data privacy.</a:t>
            </a: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Human-in-the-Loop: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/>
              <a:t>Integrates expert validation and feedback to strengthen trust, accuracy, and accountability.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799" b="1" dirty="0">
                <a:solidFill>
                  <a:srgbClr val="2C627B"/>
                </a:solidFill>
                <a:latin typeface="Cambria Bold"/>
              </a:rPr>
              <a:t>Predictive Risk Detection: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/>
              <a:t>Proactively identifies potential data quality issues and protocol deviations before they impact studies.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83540" y="19"/>
            <a:ext cx="14504460" cy="10286981"/>
            <a:chOff x="0" y="0"/>
            <a:chExt cx="19339281" cy="13715975"/>
          </a:xfrm>
        </p:grpSpPr>
        <p:sp>
          <p:nvSpPr>
            <p:cNvPr id="3" name="Freeform 3" descr="A close-up of hands shaking  Description automatically generated"/>
            <p:cNvSpPr/>
            <p:nvPr/>
          </p:nvSpPr>
          <p:spPr>
            <a:xfrm>
              <a:off x="0" y="0"/>
              <a:ext cx="19339306" cy="13716000"/>
            </a:xfrm>
            <a:custGeom>
              <a:avLst/>
              <a:gdLst/>
              <a:ahLst/>
              <a:cxnLst/>
              <a:rect l="l" t="t" r="r" b="b"/>
              <a:pathLst>
                <a:path w="19339306" h="13716000">
                  <a:moveTo>
                    <a:pt x="0" y="0"/>
                  </a:moveTo>
                  <a:lnTo>
                    <a:pt x="19339306" y="0"/>
                  </a:lnTo>
                  <a:lnTo>
                    <a:pt x="1933930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4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8781221" cy="10287000"/>
            <a:chOff x="0" y="0"/>
            <a:chExt cx="11708295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0225" y="3397373"/>
            <a:ext cx="7166629" cy="5538788"/>
            <a:chOff x="0" y="0"/>
            <a:chExt cx="9555505" cy="7385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55500" cy="7385050"/>
            </a:xfrm>
            <a:custGeom>
              <a:avLst/>
              <a:gdLst/>
              <a:ahLst/>
              <a:cxnLst/>
              <a:rect l="l" t="t" r="r" b="b"/>
              <a:pathLst>
                <a:path w="9555500" h="7385050">
                  <a:moveTo>
                    <a:pt x="0" y="0"/>
                  </a:moveTo>
                  <a:lnTo>
                    <a:pt x="9555500" y="0"/>
                  </a:lnTo>
                  <a:lnTo>
                    <a:pt x="9555500" y="7385050"/>
                  </a:lnTo>
                  <a:lnTo>
                    <a:pt x="0" y="738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160" r="-49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4775"/>
              <a:ext cx="9555505" cy="7280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</a:t>
              </a:r>
              <a:r>
                <a:rPr lang="en-US" sz="9000" b="1">
                  <a:solidFill>
                    <a:srgbClr val="0062C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907930"/>
            <a:ext cx="5925274" cy="1628346"/>
            <a:chOff x="0" y="0"/>
            <a:chExt cx="7900365" cy="2171128"/>
          </a:xfrm>
        </p:grpSpPr>
        <p:sp>
          <p:nvSpPr>
            <p:cNvPr id="10" name="Freeform 10" descr="A blue and grey text on a black background  AI-generated content may be incorrect."/>
            <p:cNvSpPr/>
            <p:nvPr/>
          </p:nvSpPr>
          <p:spPr>
            <a:xfrm>
              <a:off x="0" y="0"/>
              <a:ext cx="7900416" cy="2171192"/>
            </a:xfrm>
            <a:custGeom>
              <a:avLst/>
              <a:gdLst/>
              <a:ahLst/>
              <a:cxnLst/>
              <a:rect l="l" t="t" r="r" b="b"/>
              <a:pathLst>
                <a:path w="7900416" h="2171192">
                  <a:moveTo>
                    <a:pt x="0" y="0"/>
                  </a:moveTo>
                  <a:lnTo>
                    <a:pt x="7900416" y="0"/>
                  </a:lnTo>
                  <a:lnTo>
                    <a:pt x="7900416" y="2171192"/>
                  </a:lnTo>
                  <a:lnTo>
                    <a:pt x="0" y="2171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1759</Words>
  <Application>Microsoft Office PowerPoint</Application>
  <PresentationFormat>Custom</PresentationFormat>
  <Paragraphs>102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Cambria Bold</vt:lpstr>
      <vt:lpstr>Helvetica World Bold</vt:lpstr>
      <vt:lpstr>Aptos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SOP Assistant.pptx</dc:title>
  <dc:creator>Nithyashri Murali</dc:creator>
  <cp:lastModifiedBy>Kesavan Munusamy</cp:lastModifiedBy>
  <cp:revision>6</cp:revision>
  <dcterms:created xsi:type="dcterms:W3CDTF">2006-08-16T00:00:00Z</dcterms:created>
  <dcterms:modified xsi:type="dcterms:W3CDTF">2026-02-05T08:55:17Z</dcterms:modified>
  <dc:identifier>DAG_-xE9jrM</dc:identifier>
</cp:coreProperties>
</file>